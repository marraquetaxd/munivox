
<file path=[Content_Types].xml><?xml version="1.0" encoding="utf-8"?>
<Types xmlns="http://schemas.openxmlformats.org/package/2006/content-types"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0172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1 · 0:00–0:30
Saludo formal y declaración directa del propósito del proyecto.
• Presentar título, integrantes y tutor.
• Completar nombres, tutor y carrera; agregar el logo de la universidad si corresponde.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2 · 0:30–2:00 (1.5 min)
Enfoque: demostrar que identificaste una necesidad clara y definiste una meta informática medible.
• Problema: reporte disperso, derivación manual, respuesta tardía (agujero negro informativo).
• Datos: SUBDERE evalúa a 345 municipios; 305 comunas identifican 3.941 microbasurales; MESU 2023 señala el retraso en respuestas como debilidad principal.
• Objetivo general + los 3 específicos.
Fuentes: SUBDERE (Diagnóstico Nacional 2019 y MESU 2023) y Chile Sin Basura.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3 · 2:00–3:30 (1.5 min)
Enfoque: vender el valor agregado y el criterio de ingeniería frente a soluciones genéricas.
• Antes vs. ahora, fila por fila.
• Factor innovador: IA que hace el triaje + flujo único de punta a punta + GPS en vivo + avisos automáticos.
Antecedentes: ChileAtiende (Municipalidad de Nacimiento), WhatsApp 24/7 de Castro (BioBioChile, 2026) y Diagnóstico SUBDERE.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4 · 3:30–4:30 (1 min)
Enfoque: alcance técnico y restricciones que gobernaron el diseño.
• RF-1 y RF-2: los dos requisitos funcionales más complejos.
• RNF-1 y RNF-2: rendimiento/tiempo real y seguridad.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5 · 4:30–7:00 (2.5 min) — tu diapositiva más fuerte
Explica por qué elegiste este patrón y cómo asegura escalabilidad y estabilidad.
• Arquitectura orientada a eventos y microservicios: separa la carga intensiva de la IA del backend transaccional y del frontend reactivo.
• Azure Container Apps: webhook-service, worker de IA y socket-service.
• AWS: Redis (cola BullMQ, anti-duplicados, pub/sub), RDS PostgreSQL, S3, API Gateway + Lambda, Amplify y Cognito.
• Flujo: WhatsApp → Meta → webhook → cola Redis → worker + Gemini → RDS → evento → socket → dashboards; Lambda notifica los cambios de estado al ciudadano.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6 · 7:00–9:00 (2 min)
Enfoque: tecnologías justificadas y software técnicamente robusto antes del despliegue.
• Izquierda: stack por capa y por qué se eligió cada pieza.
• Derecha: son METAS esperadas, no resultados medidos. Dilo así: 'esperamos…' / 'nuestra meta es…'. Tiempo WhatsApp→ticket ≤15 s (incluye ~8 s de buffer del worker); precisión del triaje ≥85 % sobre una muestra de 50 reportes; carga de 50 mensajes en ráfaga sin pérdidas.
• Tras el piloto en Buin, reemplaza las metas por los valores medidos.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7 · 9:00–10:00 (1 min)
Resumen ultra ejecutivo: demuestra que sabes gestionar bajo restricciones de tiempo y presupuesto.
• Cronograma de 18 semanas en 7 fases: 1–5 completadas, 6 (pruebas y ajustes) en curso, 7 (cierre y defensa) pendiente.
• Presupuesto: todo es ESTIMADO. Desarrollo ≈ 540 h (2 integrantes × ~15 h/sem × 18 sem) × US$10/h. Operación ≈ US$150/mes a precio completo (hoy cubierta por créditos gratuitos de AWS y Azure): AWS ~US$50, Azure Container Apps ~US$20, Gemini ~US$2, WhatsApp ~US$80 (≈4 mensajes por reporte). Costo por reporte = operación / 1.000 reportes.
• Si preguntan: el costo de WhatsApp es el más sensible; depende de cuántos avisos caen fuera de la ventana de 24 h y de las tarifas vigentes de Meta (verificar antes de cotizar a un municipio).
• Riesgos gestionados: dependencia de Meta y Gemini; plazo acotado con equipo de 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8 · 10:00–10:30 (30 s en pantalla)
Introduce la demo y sal de la presentación.
• Minimiza la PPT, abre el navegador/consola y ejecuta la demo en vivo (~6 min, 10:30–16:30).
• Al terminar, vuelve a la PPT y pasa a la diapositiva 9.
Tip: tener la sesión iniciada y un reporte de WhatsApp listo para enviar.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9 · 16:30–18:30 (2 min)
Cierra con autoridad: visión de negocio y madurez profesional.
• 3 conclusiones enfocadas en logros de ingeniería (cumplimiento de objetivos, arquitectura, transparencia).
• 2 líneas de trabajo futuro: escalar a más municipios y analítica de datos (ajusta según tu visión).
Total estimado: ~18:30–19:00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org&amp;utm_campaign=index&amp;utm_content=thumbnai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org&amp;utm_campaign=index&amp;utm_content=thumbnai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org&amp;utm_campaign=index&amp;utm_content=thumbnai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org&amp;utm_campaign=index&amp;utm_content=thumbnai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org&amp;utm_campaign=index&amp;utm_content=thumbnai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org&amp;utm_campaign=index&amp;utm_content=thumbnai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org&amp;utm_campaign=index&amp;utm_content=thumbnai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org&amp;utm_campaign=index&amp;utm_content=thumbnai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org&amp;utm_campaign=index&amp;utm_content=thumbnai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COV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4EFFC"/>
              </a:gs>
              <a:gs pos="38000">
                <a:srgbClr val="6DBBEA"/>
              </a:gs>
              <a:gs pos="78000">
                <a:srgbClr val="0B2A5B"/>
              </a:gs>
              <a:gs pos="100000">
                <a:srgbClr val="081C40"/>
              </a:gs>
            </a:gsLst>
            <a:lin ang="4200000" scaled="0"/>
          </a:gradFill>
          <a:ln w="12700">
            <a:solidFill>
              <a:srgbClr val="A6DC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7498080" y="768096"/>
            <a:ext cx="3291840" cy="329184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4" name="Shape 2"/>
          <p:cNvSpPr/>
          <p:nvPr/>
        </p:nvSpPr>
        <p:spPr>
          <a:xfrm>
            <a:off x="8503920" y="1773936"/>
            <a:ext cx="2286000" cy="2286000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9409176" y="4069080"/>
            <a:ext cx="1257300" cy="125730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4EF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813816" y="758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PROYECTO DE TÍTULO · CAPSTONE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10972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MuniVox</a:t>
            </a:r>
            <a:endParaRPr lang="en-US" sz="800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487168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Gestión inteligente de incidencias urbanas con IA y WhatsApp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13816" y="4754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FE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INTEGRANTES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13816" y="50749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Pablo Vargas· Alonso Campusano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4754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FE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PROFESOR TUTOR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5074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Rocío Contreras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" y="5852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E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Duoc UC · Ingeniería en Informatica· Defensa de título · C4 Buin</a:t>
            </a:r>
            <a:endParaRPr lang="en-US" sz="1400" dirty="0"/>
          </a:p>
        </p:txBody>
      </p:sp>
      <p:pic>
        <p:nvPicPr>
          <p:cNvPr id="14" name="Imagen 13" descr="Archivo:Logo DuocUC.svg - Wikipedia, la enciclopedia libre">
            <a:extLst>
              <a:ext uri="{FF2B5EF4-FFF2-40B4-BE49-F238E27FC236}">
                <a16:creationId xmlns:a16="http://schemas.microsoft.com/office/drawing/2014/main" id="{CFF55CD9-8BA0-C425-EBDE-9789AEDE3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1971" y="73152"/>
            <a:ext cx="2435897" cy="5994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L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A6DCF8"/>
              </a:gs>
              <a:gs pos="100000">
                <a:srgbClr val="0B2A5B"/>
              </a:gs>
            </a:gsLst>
            <a:lin ang="0" scaled="0"/>
          </a:gradFill>
          <a:ln w="12700">
            <a:solidFill>
              <a:srgbClr val="A6DC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Kicker"/>
          <p:cNvSpPr txBox="1"/>
          <p:nvPr/>
        </p:nvSpPr>
        <p:spPr>
          <a:xfrm>
            <a:off x="813816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6F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PROBLEMA Y NUESTRA META</a:t>
            </a:r>
            <a:endParaRPr lang="en-US" sz="1200" dirty="0"/>
          </a:p>
        </p:txBody>
      </p:sp>
      <p:sp>
        <p:nvSpPr>
          <p:cNvPr id="4" name="Titulo"/>
          <p:cNvSpPr txBox="1"/>
          <p:nvPr/>
        </p:nvSpPr>
        <p:spPr>
          <a:xfrm>
            <a:off x="813816" y="8046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Problema y objetivos</a:t>
            </a:r>
            <a:endParaRPr lang="en-US" sz="3400" dirty="0"/>
          </a:p>
        </p:txBody>
      </p:sp>
      <p:sp>
        <p:nvSpPr>
          <p:cNvPr id="5" name="Pie"/>
          <p:cNvSpPr txBox="1"/>
          <p:nvPr/>
        </p:nvSpPr>
        <p:spPr>
          <a:xfrm>
            <a:off x="813816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MuniVox · Defensa de título</a:t>
            </a:r>
            <a:endParaRPr lang="en-US" sz="1100" dirty="0"/>
          </a:p>
        </p:txBody>
      </p:sp>
      <p:sp>
        <p:nvSpPr>
          <p:cNvPr id="6" name="Numero"/>
          <p:cNvSpPr txBox="1"/>
          <p:nvPr/>
        </p:nvSpPr>
        <p:spPr>
          <a:xfrm>
            <a:off x="10460736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FE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Tarjeta"/>
          <p:cNvSpPr/>
          <p:nvPr/>
        </p:nvSpPr>
        <p:spPr>
          <a:xfrm>
            <a:off x="813816" y="1600200"/>
            <a:ext cx="5486400" cy="452628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BFE0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1088136" y="1810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6F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88136" y="2130552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gestión de incidencias urbanas está </a:t>
            </a:r>
            <a:r>
              <a:rPr lang="en-US" sz="1500" b="1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fragmentada</a:t>
            </a:r>
            <a:r>
              <a:rPr lang="en-US" sz="15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la información llega incompleta, se deriva a mano y el ciudadano queda sin respuesta.</a:t>
            </a:r>
            <a:endParaRPr lang="en-US" sz="1500" dirty="0"/>
          </a:p>
        </p:txBody>
      </p:sp>
      <p:sp>
        <p:nvSpPr>
          <p:cNvPr id="10" name="ICON_GRAD"/>
          <p:cNvSpPr/>
          <p:nvPr/>
        </p:nvSpPr>
        <p:spPr>
          <a:xfrm>
            <a:off x="1088136" y="3200400"/>
            <a:ext cx="457200" cy="457200"/>
          </a:xfrm>
          <a:prstGeom prst="ellipse">
            <a:avLst/>
          </a:prstGeom>
          <a:gradFill rotWithShape="1">
            <a:gsLst>
              <a:gs pos="0">
                <a:srgbClr val="3E93D6"/>
              </a:gs>
              <a:gs pos="100000">
                <a:srgbClr val="0B2A5B"/>
              </a:gs>
            </a:gsLst>
            <a:lin ang="2700000" scaled="0"/>
          </a:gradFill>
          <a:ln w="12700">
            <a:solidFill>
              <a:srgbClr val="1F6F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" name="Image 0" descr="icon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436" y="3314700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682496" y="3182112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Reporte disperso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682496" y="3438144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 ubicación ni foto</a:t>
            </a:r>
            <a:endParaRPr lang="en-US" sz="1400" dirty="0"/>
          </a:p>
        </p:txBody>
      </p:sp>
      <p:sp>
        <p:nvSpPr>
          <p:cNvPr id="14" name="ICON_GRAD"/>
          <p:cNvSpPr/>
          <p:nvPr/>
        </p:nvSpPr>
        <p:spPr>
          <a:xfrm>
            <a:off x="1088136" y="3822192"/>
            <a:ext cx="457200" cy="457200"/>
          </a:xfrm>
          <a:prstGeom prst="ellipse">
            <a:avLst/>
          </a:prstGeom>
          <a:gradFill rotWithShape="1">
            <a:gsLst>
              <a:gs pos="0">
                <a:srgbClr val="3E93D6"/>
              </a:gs>
              <a:gs pos="100000">
                <a:srgbClr val="0B2A5B"/>
              </a:gs>
            </a:gsLst>
            <a:lin ang="2700000" scaled="0"/>
          </a:gradFill>
          <a:ln w="12700">
            <a:solidFill>
              <a:srgbClr val="1F6F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1" descr="icon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436" y="3936492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82496" y="3803904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Derivación manual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682496" y="4059936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 persona lee y deriva cada caso</a:t>
            </a:r>
            <a:endParaRPr lang="en-US" sz="1400" dirty="0"/>
          </a:p>
        </p:txBody>
      </p:sp>
      <p:sp>
        <p:nvSpPr>
          <p:cNvPr id="18" name="ICON_GRAD"/>
          <p:cNvSpPr/>
          <p:nvPr/>
        </p:nvSpPr>
        <p:spPr>
          <a:xfrm>
            <a:off x="1088136" y="4443984"/>
            <a:ext cx="457200" cy="457200"/>
          </a:xfrm>
          <a:prstGeom prst="ellipse">
            <a:avLst/>
          </a:prstGeom>
          <a:gradFill rotWithShape="1">
            <a:gsLst>
              <a:gs pos="0">
                <a:srgbClr val="3E93D6"/>
              </a:gs>
              <a:gs pos="100000">
                <a:srgbClr val="0B2A5B"/>
              </a:gs>
            </a:gsLst>
            <a:lin ang="2700000" scaled="0"/>
          </a:gradFill>
          <a:ln w="12700">
            <a:solidFill>
              <a:srgbClr val="1F6F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2" descr="icon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2436" y="4558284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682496" y="4425696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Respuesta tardía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1682496" y="4681728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ciudadano no sabe si su caso avanza</a:t>
            </a:r>
            <a:endParaRPr lang="en-US" sz="1400" dirty="0"/>
          </a:p>
        </p:txBody>
      </p:sp>
      <p:sp>
        <p:nvSpPr>
          <p:cNvPr id="22" name="Estadistica"/>
          <p:cNvSpPr/>
          <p:nvPr/>
        </p:nvSpPr>
        <p:spPr>
          <a:xfrm>
            <a:off x="1088136" y="5120640"/>
            <a:ext cx="2414016" cy="868680"/>
          </a:xfrm>
          <a:prstGeom prst="roundRect">
            <a:avLst>
              <a:gd name="adj" fmla="val 15789"/>
            </a:avLst>
          </a:prstGeom>
          <a:solidFill>
            <a:srgbClr val="EAF2F9"/>
          </a:solidFill>
          <a:ln w="12700">
            <a:solidFill>
              <a:srgbClr val="EAF2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8"/>
          <p:cNvSpPr txBox="1"/>
          <p:nvPr/>
        </p:nvSpPr>
        <p:spPr>
          <a:xfrm>
            <a:off x="1225296" y="5166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345</a:t>
            </a:r>
            <a:endParaRPr lang="en-US" sz="2200" dirty="0"/>
          </a:p>
        </p:txBody>
      </p:sp>
      <p:sp>
        <p:nvSpPr>
          <p:cNvPr id="24" name="Text 19"/>
          <p:cNvSpPr txBox="1"/>
          <p:nvPr/>
        </p:nvSpPr>
        <p:spPr>
          <a:xfrm>
            <a:off x="1225296" y="551383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municipios evaluados por SUBDERE</a:t>
            </a:r>
            <a:endParaRPr lang="en-US" sz="1000" dirty="0"/>
          </a:p>
        </p:txBody>
      </p:sp>
      <p:sp>
        <p:nvSpPr>
          <p:cNvPr id="25" name="Estadistica"/>
          <p:cNvSpPr/>
          <p:nvPr/>
        </p:nvSpPr>
        <p:spPr>
          <a:xfrm>
            <a:off x="3630168" y="5120640"/>
            <a:ext cx="2414016" cy="868680"/>
          </a:xfrm>
          <a:prstGeom prst="roundRect">
            <a:avLst>
              <a:gd name="adj" fmla="val 15789"/>
            </a:avLst>
          </a:prstGeom>
          <a:solidFill>
            <a:srgbClr val="EAF2F9"/>
          </a:solidFill>
          <a:ln w="12700">
            <a:solidFill>
              <a:srgbClr val="EAF2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1"/>
          <p:cNvSpPr txBox="1"/>
          <p:nvPr/>
        </p:nvSpPr>
        <p:spPr>
          <a:xfrm>
            <a:off x="3767328" y="5166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3.941</a:t>
            </a:r>
            <a:endParaRPr lang="en-US" sz="2200" dirty="0"/>
          </a:p>
        </p:txBody>
      </p:sp>
      <p:sp>
        <p:nvSpPr>
          <p:cNvPr id="27" name="Text 22"/>
          <p:cNvSpPr txBox="1"/>
          <p:nvPr/>
        </p:nvSpPr>
        <p:spPr>
          <a:xfrm>
            <a:off x="3767328" y="551383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microbasurales identificados en 305 comunas</a:t>
            </a:r>
            <a:endParaRPr lang="en-US" sz="1000" dirty="0"/>
          </a:p>
        </p:txBody>
      </p:sp>
      <p:sp>
        <p:nvSpPr>
          <p:cNvPr id="28" name="Tarjeta"/>
          <p:cNvSpPr/>
          <p:nvPr/>
        </p:nvSpPr>
        <p:spPr>
          <a:xfrm>
            <a:off x="6537960" y="1600200"/>
            <a:ext cx="4837176" cy="4526280"/>
          </a:xfrm>
          <a:prstGeom prst="roundRect">
            <a:avLst>
              <a:gd name="adj" fmla="val 3030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4"/>
          <p:cNvSpPr txBox="1"/>
          <p:nvPr/>
        </p:nvSpPr>
        <p:spPr>
          <a:xfrm>
            <a:off x="6858000" y="1810512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6DC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OBJETIVO GENERAL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6858000" y="2130552"/>
            <a:ext cx="4197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Desarrollar una plataforma que recibe reportes ciudadanos por WhatsApp, los clasifica con IA y gestiona su despacho y cierre en tiempo real.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6858000" y="3611880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6DC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OBJETIVOS ESPECÍFICOS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6858000" y="4023360"/>
            <a:ext cx="365760" cy="365760"/>
          </a:xfrm>
          <a:prstGeom prst="ellipse">
            <a:avLst/>
          </a:prstGeom>
          <a:solidFill>
            <a:srgbClr val="3E93D6"/>
          </a:solidFill>
          <a:ln w="12700">
            <a:solidFill>
              <a:srgbClr val="3E93D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28"/>
          <p:cNvSpPr txBox="1"/>
          <p:nvPr/>
        </p:nvSpPr>
        <p:spPr>
          <a:xfrm>
            <a:off x="685800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29"/>
          <p:cNvSpPr txBox="1"/>
          <p:nvPr/>
        </p:nvSpPr>
        <p:spPr>
          <a:xfrm>
            <a:off x="7406640" y="3977640"/>
            <a:ext cx="3648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Automatizar el triaje de reportes con IA, exigiendo siempre la ubicación.</a:t>
            </a:r>
            <a:endParaRPr lang="en-US" sz="1400" dirty="0"/>
          </a:p>
        </p:txBody>
      </p:sp>
      <p:sp>
        <p:nvSpPr>
          <p:cNvPr id="35" name="Shape 30"/>
          <p:cNvSpPr/>
          <p:nvPr/>
        </p:nvSpPr>
        <p:spPr>
          <a:xfrm>
            <a:off x="6858000" y="4709160"/>
            <a:ext cx="365760" cy="365760"/>
          </a:xfrm>
          <a:prstGeom prst="ellipse">
            <a:avLst/>
          </a:prstGeom>
          <a:solidFill>
            <a:srgbClr val="3E93D6"/>
          </a:solidFill>
          <a:ln w="12700">
            <a:solidFill>
              <a:srgbClr val="3E93D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1"/>
          <p:cNvSpPr txBox="1"/>
          <p:nvPr/>
        </p:nvSpPr>
        <p:spPr>
          <a:xfrm>
            <a:off x="685800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7406640" y="4663440"/>
            <a:ext cx="3648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Centralizar la gestión en un C4 web con mapa en vivo y vistas por rol.</a:t>
            </a:r>
            <a:endParaRPr lang="en-US" sz="1400" dirty="0"/>
          </a:p>
        </p:txBody>
      </p:sp>
      <p:sp>
        <p:nvSpPr>
          <p:cNvPr id="38" name="Shape 33"/>
          <p:cNvSpPr/>
          <p:nvPr/>
        </p:nvSpPr>
        <p:spPr>
          <a:xfrm>
            <a:off x="6858000" y="5394960"/>
            <a:ext cx="365760" cy="365760"/>
          </a:xfrm>
          <a:prstGeom prst="ellipse">
            <a:avLst/>
          </a:prstGeom>
          <a:solidFill>
            <a:srgbClr val="3E93D6"/>
          </a:solidFill>
          <a:ln w="12700">
            <a:solidFill>
              <a:srgbClr val="3E93D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4"/>
          <p:cNvSpPr txBox="1"/>
          <p:nvPr/>
        </p:nvSpPr>
        <p:spPr>
          <a:xfrm>
            <a:off x="6858000" y="5394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5"/>
          <p:cNvSpPr txBox="1"/>
          <p:nvPr/>
        </p:nvSpPr>
        <p:spPr>
          <a:xfrm>
            <a:off x="7406640" y="5349240"/>
            <a:ext cx="3648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Informar al ciudadano cada cambio de estado de su caso.</a:t>
            </a:r>
            <a:endParaRPr lang="en-US" sz="1400" dirty="0"/>
          </a:p>
        </p:txBody>
      </p:sp>
      <p:pic>
        <p:nvPicPr>
          <p:cNvPr id="42" name="Imagen 41" descr="Archivo:Logo DuocUC.svg - Wikipedia, la enciclopedia libre">
            <a:extLst>
              <a:ext uri="{FF2B5EF4-FFF2-40B4-BE49-F238E27FC236}">
                <a16:creationId xmlns:a16="http://schemas.microsoft.com/office/drawing/2014/main" id="{6789600C-52D8-23E8-9D0F-8F3D63355B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1971" y="73152"/>
            <a:ext cx="2435897" cy="5994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R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2A5B"/>
              </a:gs>
              <a:gs pos="100000">
                <a:srgbClr val="A6DCF8"/>
              </a:gs>
            </a:gsLst>
            <a:lin ang="0" scaled="0"/>
          </a:gradFill>
          <a:ln w="12700">
            <a:solidFill>
              <a:srgbClr val="A6DC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Kicker"/>
          <p:cNvSpPr txBox="1"/>
          <p:nvPr/>
        </p:nvSpPr>
        <p:spPr>
          <a:xfrm>
            <a:off x="813816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6DC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JUSTIFICACIÓN DE LA INNOVACIÓN</a:t>
            </a:r>
            <a:endParaRPr lang="en-US" sz="1200" dirty="0"/>
          </a:p>
        </p:txBody>
      </p:sp>
      <p:sp>
        <p:nvSpPr>
          <p:cNvPr id="4" name="Titulo"/>
          <p:cNvSpPr txBox="1"/>
          <p:nvPr/>
        </p:nvSpPr>
        <p:spPr>
          <a:xfrm>
            <a:off x="813816" y="8046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Qué cambia con MuniVox</a:t>
            </a:r>
            <a:endParaRPr lang="en-US" sz="3400" dirty="0"/>
          </a:p>
        </p:txBody>
      </p:sp>
      <p:sp>
        <p:nvSpPr>
          <p:cNvPr id="5" name="Pie"/>
          <p:cNvSpPr txBox="1"/>
          <p:nvPr/>
        </p:nvSpPr>
        <p:spPr>
          <a:xfrm>
            <a:off x="813816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E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MuniVox · Defensa de título</a:t>
            </a:r>
            <a:endParaRPr lang="en-US" sz="1100" dirty="0"/>
          </a:p>
        </p:txBody>
      </p:sp>
      <p:sp>
        <p:nvSpPr>
          <p:cNvPr id="6" name="Numero"/>
          <p:cNvSpPr txBox="1"/>
          <p:nvPr/>
        </p:nvSpPr>
        <p:spPr>
          <a:xfrm>
            <a:off x="10460736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Tarjeta"/>
          <p:cNvSpPr/>
          <p:nvPr/>
        </p:nvSpPr>
        <p:spPr>
          <a:xfrm>
            <a:off x="813816" y="1600200"/>
            <a:ext cx="4846320" cy="4480560"/>
          </a:xfrm>
          <a:prstGeom prst="roundRect">
            <a:avLst>
              <a:gd name="adj" fmla="val 3061"/>
            </a:avLst>
          </a:prstGeom>
          <a:solidFill>
            <a:srgbClr val="EAF2F9"/>
          </a:solidFill>
          <a:ln w="12700">
            <a:solidFill>
              <a:srgbClr val="EAF2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arjeta"/>
          <p:cNvSpPr/>
          <p:nvPr/>
        </p:nvSpPr>
        <p:spPr>
          <a:xfrm>
            <a:off x="6528816" y="1600200"/>
            <a:ext cx="4846320" cy="4480560"/>
          </a:xfrm>
          <a:prstGeom prst="roundRect">
            <a:avLst>
              <a:gd name="adj" fmla="val 3061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1088136" y="1810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4A5F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SISTEMAS ACTUALES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03136" y="1810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6DC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 MUNIVOX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88136" y="22402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Trámites en línea por municipio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88136" y="255117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Formularios tipo ChileAtiende: se llena y se espera.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03136" y="22402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solo flujo de punta a punta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03136" y="255117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FE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 WhatsApp al cierre en terreno, con mapa en vivo.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88136" y="317296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WhatsApp municipal como buzón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88136" y="348386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Castro recibe fotos y ubicación 24/7, pero el triaje es humano.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03136" y="317296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IA que hace el triaje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03136" y="348386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FE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Clasifica, filtra duplicados y exige la ubicación.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88136" y="410565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Derivación manual sin seguimiento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88136" y="44165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brecha que SUBDERE evalúa en los sistemas de reclamos.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03136" y="410565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Ciudadano siempre informado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03136" y="44165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FE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Aviso automático en cada cambio de estado.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88136" y="503834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Móviles sin ubicación visible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88136" y="5349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 departamentos despachan a ciegas, sin ver dónde está cada móvil.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803136" y="503834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Despacho con GPS en tiempo real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803136" y="5349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FE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 ve dónde está cada móvil antes de asignar.</a:t>
            </a:r>
            <a:endParaRPr lang="en-US" sz="1400" dirty="0"/>
          </a:p>
        </p:txBody>
      </p:sp>
      <p:sp>
        <p:nvSpPr>
          <p:cNvPr id="27" name="Flecha"/>
          <p:cNvSpPr/>
          <p:nvPr/>
        </p:nvSpPr>
        <p:spPr>
          <a:xfrm>
            <a:off x="5815584" y="3611880"/>
            <a:ext cx="548640" cy="365760"/>
          </a:xfrm>
          <a:prstGeom prst="rightArrow">
            <a:avLst/>
          </a:prstGeom>
          <a:solidFill>
            <a:srgbClr val="3E93D6"/>
          </a:solidFill>
          <a:ln w="12700">
            <a:solidFill>
              <a:srgbClr val="3E93D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9" name="Imagen 28" descr="Archivo:Logo DuocUC.svg - Wikipedia, la enciclopedia libre">
            <a:extLst>
              <a:ext uri="{FF2B5EF4-FFF2-40B4-BE49-F238E27FC236}">
                <a16:creationId xmlns:a16="http://schemas.microsoft.com/office/drawing/2014/main" id="{08426F48-1D3D-D842-77F8-334E9D973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1971" y="73152"/>
            <a:ext cx="2435897" cy="5994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L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A6DCF8"/>
              </a:gs>
              <a:gs pos="100000">
                <a:srgbClr val="0B2A5B"/>
              </a:gs>
            </a:gsLst>
            <a:lin ang="0" scaled="0"/>
          </a:gradFill>
          <a:ln w="12700">
            <a:solidFill>
              <a:srgbClr val="A6DC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Kicker"/>
          <p:cNvSpPr txBox="1"/>
          <p:nvPr/>
        </p:nvSpPr>
        <p:spPr>
          <a:xfrm>
            <a:off x="813816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6F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REQUERIMIENTOS CRÍTICOS</a:t>
            </a:r>
            <a:endParaRPr lang="en-US" sz="1200" dirty="0"/>
          </a:p>
        </p:txBody>
      </p:sp>
      <p:sp>
        <p:nvSpPr>
          <p:cNvPr id="4" name="Titulo"/>
          <p:cNvSpPr txBox="1"/>
          <p:nvPr/>
        </p:nvSpPr>
        <p:spPr>
          <a:xfrm>
            <a:off x="813816" y="8046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Requerimientos críticos</a:t>
            </a:r>
            <a:endParaRPr lang="en-US" sz="3400" dirty="0"/>
          </a:p>
        </p:txBody>
      </p:sp>
      <p:sp>
        <p:nvSpPr>
          <p:cNvPr id="5" name="Pie"/>
          <p:cNvSpPr txBox="1"/>
          <p:nvPr/>
        </p:nvSpPr>
        <p:spPr>
          <a:xfrm>
            <a:off x="813816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MuniVox · Defensa de título</a:t>
            </a:r>
            <a:endParaRPr lang="en-US" sz="1100" dirty="0"/>
          </a:p>
        </p:txBody>
      </p:sp>
      <p:sp>
        <p:nvSpPr>
          <p:cNvPr id="6" name="Numero"/>
          <p:cNvSpPr txBox="1"/>
          <p:nvPr/>
        </p:nvSpPr>
        <p:spPr>
          <a:xfrm>
            <a:off x="10460736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FE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Tarjeta"/>
          <p:cNvSpPr/>
          <p:nvPr/>
        </p:nvSpPr>
        <p:spPr>
          <a:xfrm>
            <a:off x="813816" y="1600200"/>
            <a:ext cx="5120640" cy="448056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BFE0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arjeta"/>
          <p:cNvSpPr/>
          <p:nvPr/>
        </p:nvSpPr>
        <p:spPr>
          <a:xfrm>
            <a:off x="6254496" y="1600200"/>
            <a:ext cx="5120640" cy="4480560"/>
          </a:xfrm>
          <a:prstGeom prst="roundRect">
            <a:avLst>
              <a:gd name="adj" fmla="val 3061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1133856" y="18105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6F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REQUISITOS FUNCIONALES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74536" y="18105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6DC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REQUISITOS NO FUNCIONALES</a:t>
            </a:r>
            <a:endParaRPr lang="en-US" sz="1200" dirty="0"/>
          </a:p>
        </p:txBody>
      </p:sp>
      <p:sp>
        <p:nvSpPr>
          <p:cNvPr id="11" name="Insignia"/>
          <p:cNvSpPr/>
          <p:nvPr/>
        </p:nvSpPr>
        <p:spPr>
          <a:xfrm>
            <a:off x="1133856" y="228600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1F6FB5"/>
          </a:solidFill>
          <a:ln w="12700">
            <a:solidFill>
              <a:srgbClr val="1F6F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 txBox="1"/>
          <p:nvPr/>
        </p:nvSpPr>
        <p:spPr>
          <a:xfrm>
            <a:off x="1133856" y="22860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RF-1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" y="2697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Triaje con IA y ubicación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" y="31089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Gemini analiza texto y foto, descarta duplicados y no crea el ticket sin ubicación GPS.</a:t>
            </a:r>
            <a:endParaRPr lang="en-US" sz="1500" dirty="0"/>
          </a:p>
        </p:txBody>
      </p:sp>
      <p:sp>
        <p:nvSpPr>
          <p:cNvPr id="15" name="Insignia"/>
          <p:cNvSpPr/>
          <p:nvPr/>
        </p:nvSpPr>
        <p:spPr>
          <a:xfrm>
            <a:off x="1133856" y="420624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1F6FB5"/>
          </a:solidFill>
          <a:ln w="12700">
            <a:solidFill>
              <a:srgbClr val="1F6F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 txBox="1"/>
          <p:nvPr/>
        </p:nvSpPr>
        <p:spPr>
          <a:xfrm>
            <a:off x="1133856" y="42062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RF-2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" y="4617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Despacho con GPS en vivo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" y="50292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funcionario acepta o rechaza y transmite su GPS; el operador ve móviles e incidencias en el mapa.</a:t>
            </a:r>
            <a:endParaRPr lang="en-US" sz="1500" dirty="0"/>
          </a:p>
        </p:txBody>
      </p:sp>
      <p:sp>
        <p:nvSpPr>
          <p:cNvPr id="19" name="Insignia"/>
          <p:cNvSpPr/>
          <p:nvPr/>
        </p:nvSpPr>
        <p:spPr>
          <a:xfrm>
            <a:off x="6574536" y="228600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A6DCF8"/>
          </a:solidFill>
          <a:ln w="12700">
            <a:solidFill>
              <a:srgbClr val="A6DC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 txBox="1"/>
          <p:nvPr/>
        </p:nvSpPr>
        <p:spPr>
          <a:xfrm>
            <a:off x="6574536" y="22860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RNF-1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74536" y="2697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Tiempo real y desacople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574536" y="31089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FE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Cola Redis y WebSockets: la IA no bloquea la recepción y los tickets llegan al instante a los dashboards.</a:t>
            </a:r>
            <a:endParaRPr lang="en-US" sz="1500" dirty="0"/>
          </a:p>
        </p:txBody>
      </p:sp>
      <p:sp>
        <p:nvSpPr>
          <p:cNvPr id="23" name="Insignia"/>
          <p:cNvSpPr/>
          <p:nvPr/>
        </p:nvSpPr>
        <p:spPr>
          <a:xfrm>
            <a:off x="6574536" y="420624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A6DCF8"/>
          </a:solidFill>
          <a:ln w="12700">
            <a:solidFill>
              <a:srgbClr val="A6DC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 txBox="1"/>
          <p:nvPr/>
        </p:nvSpPr>
        <p:spPr>
          <a:xfrm>
            <a:off x="6574536" y="42062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RNF-2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574536" y="4617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Seguridad por rol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6574536" y="50292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FE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Autenticación con Cognito, vistas según rol y base de datos en red privada (VPC).</a:t>
            </a:r>
            <a:endParaRPr lang="en-US" sz="1500" dirty="0"/>
          </a:p>
        </p:txBody>
      </p:sp>
      <p:pic>
        <p:nvPicPr>
          <p:cNvPr id="28" name="Imagen 27" descr="Archivo:Logo DuocUC.svg - Wikipedia, la enciclopedia libre">
            <a:extLst>
              <a:ext uri="{FF2B5EF4-FFF2-40B4-BE49-F238E27FC236}">
                <a16:creationId xmlns:a16="http://schemas.microsoft.com/office/drawing/2014/main" id="{B2364FB3-4F8C-1805-D8B7-7726F1196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1971" y="73152"/>
            <a:ext cx="2435897" cy="5994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R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2A5B"/>
              </a:gs>
              <a:gs pos="100000">
                <a:srgbClr val="A6DCF8"/>
              </a:gs>
            </a:gsLst>
            <a:lin ang="0" scaled="0"/>
          </a:gradFill>
          <a:ln w="12700">
            <a:solidFill>
              <a:srgbClr val="A6DC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Kicker"/>
          <p:cNvSpPr txBox="1"/>
          <p:nvPr/>
        </p:nvSpPr>
        <p:spPr>
          <a:xfrm>
            <a:off x="184132" y="16714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6DC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VISTA DE DESPLIEGUE</a:t>
            </a:r>
            <a:endParaRPr lang="en-US" sz="1200" dirty="0"/>
          </a:p>
        </p:txBody>
      </p:sp>
      <p:sp>
        <p:nvSpPr>
          <p:cNvPr id="4" name="Titulo"/>
          <p:cNvSpPr txBox="1"/>
          <p:nvPr/>
        </p:nvSpPr>
        <p:spPr>
          <a:xfrm>
            <a:off x="184132" y="40233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del sistema</a:t>
            </a:r>
            <a:endParaRPr lang="en-US" sz="3400" dirty="0"/>
          </a:p>
        </p:txBody>
      </p:sp>
      <p:sp>
        <p:nvSpPr>
          <p:cNvPr id="5" name="Pie"/>
          <p:cNvSpPr txBox="1"/>
          <p:nvPr/>
        </p:nvSpPr>
        <p:spPr>
          <a:xfrm>
            <a:off x="813816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E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MuniVox · Defensa de título</a:t>
            </a:r>
            <a:endParaRPr lang="en-US" sz="1100" dirty="0"/>
          </a:p>
        </p:txBody>
      </p:sp>
      <p:sp>
        <p:nvSpPr>
          <p:cNvPr id="6" name="Numero"/>
          <p:cNvSpPr txBox="1"/>
          <p:nvPr/>
        </p:nvSpPr>
        <p:spPr>
          <a:xfrm>
            <a:off x="10955503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Marco"/>
          <p:cNvSpPr/>
          <p:nvPr/>
        </p:nvSpPr>
        <p:spPr>
          <a:xfrm>
            <a:off x="813816" y="1508760"/>
            <a:ext cx="10561320" cy="4709160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BFE0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0" descr="Diagrama de arquitectura de MuniVox: Azure Container Apps (webhook, worker, socket) y AWS (Redis, RDS, S3, Lambda, Amplify, Cognito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32" y="907805"/>
            <a:ext cx="11263121" cy="5887540"/>
          </a:xfrm>
          <a:prstGeom prst="rect">
            <a:avLst/>
          </a:prstGeom>
        </p:spPr>
      </p:pic>
      <p:pic>
        <p:nvPicPr>
          <p:cNvPr id="10" name="Imagen 9" descr="Archivo:Logo DuocUC.svg - Wikipedia, la enciclopedia libre">
            <a:extLst>
              <a:ext uri="{FF2B5EF4-FFF2-40B4-BE49-F238E27FC236}">
                <a16:creationId xmlns:a16="http://schemas.microsoft.com/office/drawing/2014/main" id="{21D303DB-5CF3-51A2-9ADC-24E006912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1971" y="73152"/>
            <a:ext cx="2435897" cy="5994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L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A6DCF8"/>
              </a:gs>
              <a:gs pos="100000">
                <a:srgbClr val="0B2A5B"/>
              </a:gs>
            </a:gsLst>
            <a:lin ang="0" scaled="0"/>
          </a:gradFill>
          <a:ln w="12700">
            <a:solidFill>
              <a:srgbClr val="A6DC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Kicker"/>
          <p:cNvSpPr txBox="1"/>
          <p:nvPr/>
        </p:nvSpPr>
        <p:spPr>
          <a:xfrm>
            <a:off x="813816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6F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STACK TECNOLÓGICO Y CALIDAD</a:t>
            </a:r>
            <a:endParaRPr lang="en-US" sz="1200" dirty="0"/>
          </a:p>
        </p:txBody>
      </p:sp>
      <p:sp>
        <p:nvSpPr>
          <p:cNvPr id="4" name="Titulo"/>
          <p:cNvSpPr txBox="1"/>
          <p:nvPr/>
        </p:nvSpPr>
        <p:spPr>
          <a:xfrm>
            <a:off x="813816" y="8046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Stack y calidad</a:t>
            </a:r>
            <a:endParaRPr lang="en-US" sz="3400" dirty="0"/>
          </a:p>
        </p:txBody>
      </p:sp>
      <p:sp>
        <p:nvSpPr>
          <p:cNvPr id="5" name="Pie"/>
          <p:cNvSpPr txBox="1"/>
          <p:nvPr/>
        </p:nvSpPr>
        <p:spPr>
          <a:xfrm>
            <a:off x="813816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MuniVox · Defensa de título</a:t>
            </a:r>
            <a:endParaRPr lang="en-US" sz="1100" dirty="0"/>
          </a:p>
        </p:txBody>
      </p:sp>
      <p:sp>
        <p:nvSpPr>
          <p:cNvPr id="6" name="Numero"/>
          <p:cNvSpPr txBox="1"/>
          <p:nvPr/>
        </p:nvSpPr>
        <p:spPr>
          <a:xfrm>
            <a:off x="10460736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FE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Tarjeta"/>
          <p:cNvSpPr/>
          <p:nvPr/>
        </p:nvSpPr>
        <p:spPr>
          <a:xfrm>
            <a:off x="813816" y="1600200"/>
            <a:ext cx="6126480" cy="452628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BFE0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arjeta"/>
          <p:cNvSpPr/>
          <p:nvPr/>
        </p:nvSpPr>
        <p:spPr>
          <a:xfrm>
            <a:off x="7168896" y="1600200"/>
            <a:ext cx="4206240" cy="4526280"/>
          </a:xfrm>
          <a:prstGeom prst="roundRect">
            <a:avLst>
              <a:gd name="adj" fmla="val 3261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1088136" y="1810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6F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STACK TECNOLÓGICO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88136" y="2194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1" name="Chip"/>
          <p:cNvSpPr/>
          <p:nvPr/>
        </p:nvSpPr>
        <p:spPr>
          <a:xfrm>
            <a:off x="1088136" y="2468880"/>
            <a:ext cx="1001268" cy="329184"/>
          </a:xfrm>
          <a:prstGeom prst="roundRect">
            <a:avLst>
              <a:gd name="adj" fmla="val 50000"/>
            </a:avLst>
          </a:prstGeom>
          <a:solidFill>
            <a:srgbClr val="EAF2F9"/>
          </a:solidFill>
          <a:ln w="12700">
            <a:solidFill>
              <a:srgbClr val="BFE0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 txBox="1"/>
          <p:nvPr/>
        </p:nvSpPr>
        <p:spPr>
          <a:xfrm>
            <a:off x="1088136" y="2468880"/>
            <a:ext cx="10012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Next.js</a:t>
            </a:r>
            <a:endParaRPr lang="en-US" sz="1300" dirty="0"/>
          </a:p>
        </p:txBody>
      </p:sp>
      <p:sp>
        <p:nvSpPr>
          <p:cNvPr id="13" name="Chip"/>
          <p:cNvSpPr/>
          <p:nvPr/>
        </p:nvSpPr>
        <p:spPr>
          <a:xfrm>
            <a:off x="2180844" y="2468880"/>
            <a:ext cx="809244" cy="329184"/>
          </a:xfrm>
          <a:prstGeom prst="roundRect">
            <a:avLst>
              <a:gd name="adj" fmla="val 50000"/>
            </a:avLst>
          </a:prstGeom>
          <a:solidFill>
            <a:srgbClr val="EAF2F9"/>
          </a:solidFill>
          <a:ln w="12700">
            <a:solidFill>
              <a:srgbClr val="BFE0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 txBox="1"/>
          <p:nvPr/>
        </p:nvSpPr>
        <p:spPr>
          <a:xfrm>
            <a:off x="2180844" y="2468880"/>
            <a:ext cx="8092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</a:t>
            </a:r>
            <a:endParaRPr lang="en-US" sz="1300" dirty="0"/>
          </a:p>
        </p:txBody>
      </p:sp>
      <p:sp>
        <p:nvSpPr>
          <p:cNvPr id="15" name="Chip"/>
          <p:cNvSpPr/>
          <p:nvPr/>
        </p:nvSpPr>
        <p:spPr>
          <a:xfrm>
            <a:off x="3081528" y="2468880"/>
            <a:ext cx="1289304" cy="329184"/>
          </a:xfrm>
          <a:prstGeom prst="roundRect">
            <a:avLst>
              <a:gd name="adj" fmla="val 50000"/>
            </a:avLst>
          </a:prstGeom>
          <a:solidFill>
            <a:srgbClr val="EAF2F9"/>
          </a:solidFill>
          <a:ln w="12700">
            <a:solidFill>
              <a:srgbClr val="BFE0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 txBox="1"/>
          <p:nvPr/>
        </p:nvSpPr>
        <p:spPr>
          <a:xfrm>
            <a:off x="3081528" y="2468880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17" name="Chip"/>
          <p:cNvSpPr/>
          <p:nvPr/>
        </p:nvSpPr>
        <p:spPr>
          <a:xfrm>
            <a:off x="4462272" y="2468880"/>
            <a:ext cx="1193292" cy="329184"/>
          </a:xfrm>
          <a:prstGeom prst="roundRect">
            <a:avLst>
              <a:gd name="adj" fmla="val 50000"/>
            </a:avLst>
          </a:prstGeom>
          <a:solidFill>
            <a:srgbClr val="EAF2F9"/>
          </a:solidFill>
          <a:ln w="12700">
            <a:solidFill>
              <a:srgbClr val="BFE0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 txBox="1"/>
          <p:nvPr/>
        </p:nvSpPr>
        <p:spPr>
          <a:xfrm>
            <a:off x="4462272" y="2468880"/>
            <a:ext cx="11932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Mapbox GL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88136" y="2971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BACKEND</a:t>
            </a:r>
            <a:endParaRPr lang="en-US" sz="1100" dirty="0"/>
          </a:p>
        </p:txBody>
      </p:sp>
      <p:sp>
        <p:nvSpPr>
          <p:cNvPr id="20" name="Chip"/>
          <p:cNvSpPr/>
          <p:nvPr/>
        </p:nvSpPr>
        <p:spPr>
          <a:xfrm>
            <a:off x="1088136" y="3246120"/>
            <a:ext cx="1001268" cy="329184"/>
          </a:xfrm>
          <a:prstGeom prst="roundRect">
            <a:avLst>
              <a:gd name="adj" fmla="val 50000"/>
            </a:avLst>
          </a:prstGeom>
          <a:solidFill>
            <a:srgbClr val="EAF2F9"/>
          </a:solidFill>
          <a:ln w="12700">
            <a:solidFill>
              <a:srgbClr val="BFE0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 txBox="1"/>
          <p:nvPr/>
        </p:nvSpPr>
        <p:spPr>
          <a:xfrm>
            <a:off x="1088136" y="3246120"/>
            <a:ext cx="10012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Node.js</a:t>
            </a:r>
            <a:endParaRPr lang="en-US" sz="1300" dirty="0"/>
          </a:p>
        </p:txBody>
      </p:sp>
      <p:sp>
        <p:nvSpPr>
          <p:cNvPr id="22" name="Chip"/>
          <p:cNvSpPr/>
          <p:nvPr/>
        </p:nvSpPr>
        <p:spPr>
          <a:xfrm>
            <a:off x="2180844" y="3246120"/>
            <a:ext cx="905256" cy="329184"/>
          </a:xfrm>
          <a:prstGeom prst="roundRect">
            <a:avLst>
              <a:gd name="adj" fmla="val 50000"/>
            </a:avLst>
          </a:prstGeom>
          <a:solidFill>
            <a:srgbClr val="EAF2F9"/>
          </a:solidFill>
          <a:ln w="12700">
            <a:solidFill>
              <a:srgbClr val="BFE0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 txBox="1"/>
          <p:nvPr/>
        </p:nvSpPr>
        <p:spPr>
          <a:xfrm>
            <a:off x="2180844" y="3246120"/>
            <a:ext cx="90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BullMQ</a:t>
            </a:r>
            <a:endParaRPr lang="en-US" sz="1300" dirty="0"/>
          </a:p>
        </p:txBody>
      </p:sp>
      <p:sp>
        <p:nvSpPr>
          <p:cNvPr id="24" name="Chip"/>
          <p:cNvSpPr/>
          <p:nvPr/>
        </p:nvSpPr>
        <p:spPr>
          <a:xfrm>
            <a:off x="3177540" y="3246120"/>
            <a:ext cx="905256" cy="329184"/>
          </a:xfrm>
          <a:prstGeom prst="roundRect">
            <a:avLst>
              <a:gd name="adj" fmla="val 50000"/>
            </a:avLst>
          </a:prstGeom>
          <a:solidFill>
            <a:srgbClr val="EAF2F9"/>
          </a:solidFill>
          <a:ln w="12700">
            <a:solidFill>
              <a:srgbClr val="BFE0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 txBox="1"/>
          <p:nvPr/>
        </p:nvSpPr>
        <p:spPr>
          <a:xfrm>
            <a:off x="3177540" y="3246120"/>
            <a:ext cx="90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Prisma</a:t>
            </a:r>
            <a:endParaRPr lang="en-US" sz="1300" dirty="0"/>
          </a:p>
        </p:txBody>
      </p:sp>
      <p:sp>
        <p:nvSpPr>
          <p:cNvPr id="26" name="Chip"/>
          <p:cNvSpPr/>
          <p:nvPr/>
        </p:nvSpPr>
        <p:spPr>
          <a:xfrm>
            <a:off x="4174236" y="3246120"/>
            <a:ext cx="1193292" cy="329184"/>
          </a:xfrm>
          <a:prstGeom prst="roundRect">
            <a:avLst>
              <a:gd name="adj" fmla="val 50000"/>
            </a:avLst>
          </a:prstGeom>
          <a:solidFill>
            <a:srgbClr val="EAF2F9"/>
          </a:solidFill>
          <a:ln w="12700">
            <a:solidFill>
              <a:srgbClr val="BFE0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 txBox="1"/>
          <p:nvPr/>
        </p:nvSpPr>
        <p:spPr>
          <a:xfrm>
            <a:off x="4174236" y="3246120"/>
            <a:ext cx="11932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Socket.IO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88136" y="3749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DATOS</a:t>
            </a:r>
            <a:endParaRPr lang="en-US" sz="1100" dirty="0"/>
          </a:p>
        </p:txBody>
      </p:sp>
      <p:sp>
        <p:nvSpPr>
          <p:cNvPr id="29" name="Chip"/>
          <p:cNvSpPr/>
          <p:nvPr/>
        </p:nvSpPr>
        <p:spPr>
          <a:xfrm>
            <a:off x="1088136" y="4023360"/>
            <a:ext cx="1289304" cy="329184"/>
          </a:xfrm>
          <a:prstGeom prst="roundRect">
            <a:avLst>
              <a:gd name="adj" fmla="val 50000"/>
            </a:avLst>
          </a:prstGeom>
          <a:solidFill>
            <a:srgbClr val="EAF2F9"/>
          </a:solidFill>
          <a:ln w="12700">
            <a:solidFill>
              <a:srgbClr val="BFE0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 txBox="1"/>
          <p:nvPr/>
        </p:nvSpPr>
        <p:spPr>
          <a:xfrm>
            <a:off x="1088136" y="4023360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31" name="Chip"/>
          <p:cNvSpPr/>
          <p:nvPr/>
        </p:nvSpPr>
        <p:spPr>
          <a:xfrm>
            <a:off x="2468880" y="4023360"/>
            <a:ext cx="809244" cy="329184"/>
          </a:xfrm>
          <a:prstGeom prst="roundRect">
            <a:avLst>
              <a:gd name="adj" fmla="val 50000"/>
            </a:avLst>
          </a:prstGeom>
          <a:solidFill>
            <a:srgbClr val="EAF2F9"/>
          </a:solidFill>
          <a:ln w="12700">
            <a:solidFill>
              <a:srgbClr val="BFE0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 txBox="1"/>
          <p:nvPr/>
        </p:nvSpPr>
        <p:spPr>
          <a:xfrm>
            <a:off x="2468880" y="4023360"/>
            <a:ext cx="8092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Redis</a:t>
            </a:r>
            <a:endParaRPr lang="en-US" sz="1300" dirty="0"/>
          </a:p>
        </p:txBody>
      </p:sp>
      <p:sp>
        <p:nvSpPr>
          <p:cNvPr id="33" name="Chip"/>
          <p:cNvSpPr/>
          <p:nvPr/>
        </p:nvSpPr>
        <p:spPr>
          <a:xfrm>
            <a:off x="3369564" y="4023360"/>
            <a:ext cx="1193292" cy="329184"/>
          </a:xfrm>
          <a:prstGeom prst="roundRect">
            <a:avLst>
              <a:gd name="adj" fmla="val 50000"/>
            </a:avLst>
          </a:prstGeom>
          <a:solidFill>
            <a:srgbClr val="EAF2F9"/>
          </a:solidFill>
          <a:ln w="12700">
            <a:solidFill>
              <a:srgbClr val="BFE0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 txBox="1"/>
          <p:nvPr/>
        </p:nvSpPr>
        <p:spPr>
          <a:xfrm>
            <a:off x="3369564" y="4023360"/>
            <a:ext cx="11932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Amazon S3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088136" y="4526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NUBE</a:t>
            </a:r>
            <a:endParaRPr lang="en-US" sz="1100" dirty="0"/>
          </a:p>
        </p:txBody>
      </p:sp>
      <p:sp>
        <p:nvSpPr>
          <p:cNvPr id="36" name="Chip"/>
          <p:cNvSpPr/>
          <p:nvPr/>
        </p:nvSpPr>
        <p:spPr>
          <a:xfrm>
            <a:off x="1088136" y="4800600"/>
            <a:ext cx="1289304" cy="329184"/>
          </a:xfrm>
          <a:prstGeom prst="roundRect">
            <a:avLst>
              <a:gd name="adj" fmla="val 50000"/>
            </a:avLst>
          </a:prstGeom>
          <a:solidFill>
            <a:srgbClr val="EAF2F9"/>
          </a:solidFill>
          <a:ln w="12700">
            <a:solidFill>
              <a:srgbClr val="BFE0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 txBox="1"/>
          <p:nvPr/>
        </p:nvSpPr>
        <p:spPr>
          <a:xfrm>
            <a:off x="1088136" y="4800600"/>
            <a:ext cx="128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AWS Lambda</a:t>
            </a:r>
            <a:endParaRPr lang="en-US" sz="1300" dirty="0"/>
          </a:p>
        </p:txBody>
      </p:sp>
      <p:sp>
        <p:nvSpPr>
          <p:cNvPr id="38" name="Chip"/>
          <p:cNvSpPr/>
          <p:nvPr/>
        </p:nvSpPr>
        <p:spPr>
          <a:xfrm>
            <a:off x="2468880" y="4800600"/>
            <a:ext cx="1001268" cy="329184"/>
          </a:xfrm>
          <a:prstGeom prst="roundRect">
            <a:avLst>
              <a:gd name="adj" fmla="val 50000"/>
            </a:avLst>
          </a:prstGeom>
          <a:solidFill>
            <a:srgbClr val="EAF2F9"/>
          </a:solidFill>
          <a:ln w="12700">
            <a:solidFill>
              <a:srgbClr val="BFE0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 txBox="1"/>
          <p:nvPr/>
        </p:nvSpPr>
        <p:spPr>
          <a:xfrm>
            <a:off x="2468880" y="4800600"/>
            <a:ext cx="10012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Cognito</a:t>
            </a:r>
            <a:endParaRPr lang="en-US" sz="1300" dirty="0"/>
          </a:p>
        </p:txBody>
      </p:sp>
      <p:sp>
        <p:nvSpPr>
          <p:cNvPr id="40" name="Chip"/>
          <p:cNvSpPr/>
          <p:nvPr/>
        </p:nvSpPr>
        <p:spPr>
          <a:xfrm>
            <a:off x="3561588" y="4800600"/>
            <a:ext cx="1001268" cy="329184"/>
          </a:xfrm>
          <a:prstGeom prst="roundRect">
            <a:avLst>
              <a:gd name="adj" fmla="val 50000"/>
            </a:avLst>
          </a:prstGeom>
          <a:solidFill>
            <a:srgbClr val="EAF2F9"/>
          </a:solidFill>
          <a:ln w="12700">
            <a:solidFill>
              <a:srgbClr val="BFE0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 txBox="1"/>
          <p:nvPr/>
        </p:nvSpPr>
        <p:spPr>
          <a:xfrm>
            <a:off x="3561588" y="4800600"/>
            <a:ext cx="10012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Amplify</a:t>
            </a:r>
            <a:endParaRPr lang="en-US" sz="1300" dirty="0"/>
          </a:p>
        </p:txBody>
      </p:sp>
      <p:sp>
        <p:nvSpPr>
          <p:cNvPr id="42" name="Chip"/>
          <p:cNvSpPr/>
          <p:nvPr/>
        </p:nvSpPr>
        <p:spPr>
          <a:xfrm>
            <a:off x="4654296" y="4800600"/>
            <a:ext cx="809244" cy="329184"/>
          </a:xfrm>
          <a:prstGeom prst="roundRect">
            <a:avLst>
              <a:gd name="adj" fmla="val 50000"/>
            </a:avLst>
          </a:prstGeom>
          <a:solidFill>
            <a:srgbClr val="EAF2F9"/>
          </a:solidFill>
          <a:ln w="12700">
            <a:solidFill>
              <a:srgbClr val="BFE0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 txBox="1"/>
          <p:nvPr/>
        </p:nvSpPr>
        <p:spPr>
          <a:xfrm>
            <a:off x="4654296" y="4800600"/>
            <a:ext cx="8092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Azure</a:t>
            </a:r>
            <a:endParaRPr lang="en-US" sz="1300" dirty="0"/>
          </a:p>
        </p:txBody>
      </p:sp>
      <p:sp>
        <p:nvSpPr>
          <p:cNvPr id="44" name="Chip"/>
          <p:cNvSpPr/>
          <p:nvPr/>
        </p:nvSpPr>
        <p:spPr>
          <a:xfrm>
            <a:off x="5554980" y="4800600"/>
            <a:ext cx="905256" cy="329184"/>
          </a:xfrm>
          <a:prstGeom prst="roundRect">
            <a:avLst>
              <a:gd name="adj" fmla="val 50000"/>
            </a:avLst>
          </a:prstGeom>
          <a:solidFill>
            <a:srgbClr val="EAF2F9"/>
          </a:solidFill>
          <a:ln w="12700">
            <a:solidFill>
              <a:srgbClr val="BFE0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 txBox="1"/>
          <p:nvPr/>
        </p:nvSpPr>
        <p:spPr>
          <a:xfrm>
            <a:off x="5554980" y="4800600"/>
            <a:ext cx="90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Docker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1088136" y="5303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IA Y MENSAJERÍA</a:t>
            </a:r>
            <a:endParaRPr lang="en-US" sz="1100" dirty="0"/>
          </a:p>
        </p:txBody>
      </p:sp>
      <p:sp>
        <p:nvSpPr>
          <p:cNvPr id="47" name="Chip"/>
          <p:cNvSpPr/>
          <p:nvPr/>
        </p:nvSpPr>
        <p:spPr>
          <a:xfrm>
            <a:off x="1088136" y="5577840"/>
            <a:ext cx="905256" cy="329184"/>
          </a:xfrm>
          <a:prstGeom prst="roundRect">
            <a:avLst>
              <a:gd name="adj" fmla="val 50000"/>
            </a:avLst>
          </a:prstGeom>
          <a:solidFill>
            <a:srgbClr val="EAF2F9"/>
          </a:solidFill>
          <a:ln w="12700">
            <a:solidFill>
              <a:srgbClr val="BFE0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 txBox="1"/>
          <p:nvPr/>
        </p:nvSpPr>
        <p:spPr>
          <a:xfrm>
            <a:off x="1088136" y="5577840"/>
            <a:ext cx="90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Gemini</a:t>
            </a:r>
            <a:endParaRPr lang="en-US" sz="1300" dirty="0"/>
          </a:p>
        </p:txBody>
      </p:sp>
      <p:sp>
        <p:nvSpPr>
          <p:cNvPr id="49" name="Chip"/>
          <p:cNvSpPr/>
          <p:nvPr/>
        </p:nvSpPr>
        <p:spPr>
          <a:xfrm>
            <a:off x="2084832" y="5577840"/>
            <a:ext cx="1769364" cy="329184"/>
          </a:xfrm>
          <a:prstGeom prst="roundRect">
            <a:avLst>
              <a:gd name="adj" fmla="val 50000"/>
            </a:avLst>
          </a:prstGeom>
          <a:solidFill>
            <a:srgbClr val="EAF2F9"/>
          </a:solidFill>
          <a:ln w="12700">
            <a:solidFill>
              <a:srgbClr val="BFE0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 txBox="1"/>
          <p:nvPr/>
        </p:nvSpPr>
        <p:spPr>
          <a:xfrm>
            <a:off x="2084832" y="5577840"/>
            <a:ext cx="17693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WhatsApp (Meta)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7488936" y="18105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6DC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METAS DEL PILOTO</a:t>
            </a:r>
            <a:endParaRPr lang="en-US" sz="1200" dirty="0"/>
          </a:p>
        </p:txBody>
      </p:sp>
      <p:sp>
        <p:nvSpPr>
          <p:cNvPr id="52" name="Metrica"/>
          <p:cNvSpPr/>
          <p:nvPr/>
        </p:nvSpPr>
        <p:spPr>
          <a:xfrm>
            <a:off x="7488936" y="2194560"/>
            <a:ext cx="356616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 txBox="1"/>
          <p:nvPr/>
        </p:nvSpPr>
        <p:spPr>
          <a:xfrm>
            <a:off x="7717536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6DC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≤ 15 s</a:t>
            </a:r>
            <a:endParaRPr lang="en-US" sz="2800" dirty="0"/>
          </a:p>
        </p:txBody>
      </p:sp>
      <p:sp>
        <p:nvSpPr>
          <p:cNvPr id="54" name="Text 52"/>
          <p:cNvSpPr txBox="1"/>
          <p:nvPr/>
        </p:nvSpPr>
        <p:spPr>
          <a:xfrm>
            <a:off x="7717536" y="2788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WhatsApp → ticket en el mapa</a:t>
            </a:r>
            <a:endParaRPr lang="en-US" sz="1400" dirty="0"/>
          </a:p>
        </p:txBody>
      </p:sp>
      <p:sp>
        <p:nvSpPr>
          <p:cNvPr id="55" name="Metrica"/>
          <p:cNvSpPr/>
          <p:nvPr/>
        </p:nvSpPr>
        <p:spPr>
          <a:xfrm>
            <a:off x="7488936" y="3364992"/>
            <a:ext cx="356616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Text 54"/>
          <p:cNvSpPr txBox="1"/>
          <p:nvPr/>
        </p:nvSpPr>
        <p:spPr>
          <a:xfrm>
            <a:off x="7717536" y="34564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6DC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≥ 85 %</a:t>
            </a:r>
            <a:endParaRPr lang="en-US" sz="2800" dirty="0"/>
          </a:p>
        </p:txBody>
      </p:sp>
      <p:sp>
        <p:nvSpPr>
          <p:cNvPr id="57" name="Text 55"/>
          <p:cNvSpPr txBox="1"/>
          <p:nvPr/>
        </p:nvSpPr>
        <p:spPr>
          <a:xfrm>
            <a:off x="7717536" y="39593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Precisión del triaje IA (50 reportes)</a:t>
            </a:r>
            <a:endParaRPr lang="en-US" sz="1400" dirty="0"/>
          </a:p>
        </p:txBody>
      </p:sp>
      <p:sp>
        <p:nvSpPr>
          <p:cNvPr id="58" name="Metrica"/>
          <p:cNvSpPr/>
          <p:nvPr/>
        </p:nvSpPr>
        <p:spPr>
          <a:xfrm>
            <a:off x="7488936" y="4535424"/>
            <a:ext cx="356616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 txBox="1"/>
          <p:nvPr/>
        </p:nvSpPr>
        <p:spPr>
          <a:xfrm>
            <a:off x="7717536" y="46268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6DC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 / 50</a:t>
            </a:r>
            <a:endParaRPr lang="en-US" sz="2800" dirty="0"/>
          </a:p>
        </p:txBody>
      </p:sp>
      <p:sp>
        <p:nvSpPr>
          <p:cNvPr id="60" name="Text 58"/>
          <p:cNvSpPr txBox="1"/>
          <p:nvPr/>
        </p:nvSpPr>
        <p:spPr>
          <a:xfrm>
            <a:off x="7717536" y="51297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Carga: 50 mensajes en ráfaga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7488936" y="5669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BFE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Valores esperados; se validarán con datos reales en el piloto en Buin.</a:t>
            </a:r>
            <a:endParaRPr lang="en-US" sz="1100" dirty="0"/>
          </a:p>
        </p:txBody>
      </p:sp>
      <p:pic>
        <p:nvPicPr>
          <p:cNvPr id="63" name="Imagen 62" descr="Archivo:Logo DuocUC.svg - Wikipedia, la enciclopedia libre">
            <a:extLst>
              <a:ext uri="{FF2B5EF4-FFF2-40B4-BE49-F238E27FC236}">
                <a16:creationId xmlns:a16="http://schemas.microsoft.com/office/drawing/2014/main" id="{37FB23E0-CC87-026A-F771-E233C32DC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1971" y="73152"/>
            <a:ext cx="2435897" cy="5994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R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2A5B"/>
              </a:gs>
              <a:gs pos="100000">
                <a:srgbClr val="A6DCF8"/>
              </a:gs>
            </a:gsLst>
            <a:lin ang="0" scaled="0"/>
          </a:gradFill>
          <a:ln w="12700">
            <a:solidFill>
              <a:srgbClr val="A6DC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Kicker"/>
          <p:cNvSpPr txBox="1"/>
          <p:nvPr/>
        </p:nvSpPr>
        <p:spPr>
          <a:xfrm>
            <a:off x="813816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6DC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GESTIÓN, PRESUPUESTO Y CRONOGRAMA</a:t>
            </a:r>
            <a:endParaRPr lang="en-US" sz="1200" dirty="0"/>
          </a:p>
        </p:txBody>
      </p:sp>
      <p:sp>
        <p:nvSpPr>
          <p:cNvPr id="4" name="Titulo"/>
          <p:cNvSpPr txBox="1"/>
          <p:nvPr/>
        </p:nvSpPr>
        <p:spPr>
          <a:xfrm>
            <a:off x="813816" y="8046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Gestión y presupuesto</a:t>
            </a:r>
            <a:endParaRPr lang="en-US" sz="3400" dirty="0"/>
          </a:p>
        </p:txBody>
      </p:sp>
      <p:sp>
        <p:nvSpPr>
          <p:cNvPr id="5" name="Pie"/>
          <p:cNvSpPr txBox="1"/>
          <p:nvPr/>
        </p:nvSpPr>
        <p:spPr>
          <a:xfrm>
            <a:off x="813816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E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MuniVox · Defensa de título</a:t>
            </a:r>
            <a:endParaRPr lang="en-US" sz="1100" dirty="0"/>
          </a:p>
        </p:txBody>
      </p:sp>
      <p:sp>
        <p:nvSpPr>
          <p:cNvPr id="6" name="Numero"/>
          <p:cNvSpPr txBox="1"/>
          <p:nvPr/>
        </p:nvSpPr>
        <p:spPr>
          <a:xfrm>
            <a:off x="10460736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Cronograma"/>
          <p:cNvSpPr/>
          <p:nvPr/>
        </p:nvSpPr>
        <p:spPr>
          <a:xfrm>
            <a:off x="813816" y="1600200"/>
            <a:ext cx="1056132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BFE0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Linea tiempo"/>
          <p:cNvSpPr/>
          <p:nvPr/>
        </p:nvSpPr>
        <p:spPr>
          <a:xfrm>
            <a:off x="1568196" y="2011680"/>
            <a:ext cx="9052560" cy="0"/>
          </a:xfrm>
          <a:prstGeom prst="line">
            <a:avLst/>
          </a:prstGeom>
          <a:noFill/>
          <a:ln w="38100">
            <a:solidFill>
              <a:srgbClr val="BFE0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321308" y="1764792"/>
            <a:ext cx="493776" cy="493776"/>
          </a:xfrm>
          <a:prstGeom prst="ellipse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1321308" y="17647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13816" y="23774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 1-2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2651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Levantamiento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" y="327355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7A4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Completado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30068" y="1764792"/>
            <a:ext cx="493776" cy="493776"/>
          </a:xfrm>
          <a:prstGeom prst="ellipse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 txBox="1"/>
          <p:nvPr/>
        </p:nvSpPr>
        <p:spPr>
          <a:xfrm>
            <a:off x="2830068" y="17647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322576" y="23774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 2-5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368296" y="2651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Diseño y arquitectura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22576" y="327355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7A4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Completado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38828" y="1764792"/>
            <a:ext cx="493776" cy="493776"/>
          </a:xfrm>
          <a:prstGeom prst="ellipse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 txBox="1"/>
          <p:nvPr/>
        </p:nvSpPr>
        <p:spPr>
          <a:xfrm>
            <a:off x="4338828" y="17647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831336" y="23774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 5-8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877056" y="2651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Infraestructura cloud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831336" y="327355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7A4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Completado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47588" y="1764792"/>
            <a:ext cx="493776" cy="493776"/>
          </a:xfrm>
          <a:prstGeom prst="ellipse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 txBox="1"/>
          <p:nvPr/>
        </p:nvSpPr>
        <p:spPr>
          <a:xfrm>
            <a:off x="5847588" y="17647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340096" y="23774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 9-11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385816" y="2651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Ingesta e IA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340096" y="327355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7A4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Completado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56348" y="1764792"/>
            <a:ext cx="493776" cy="493776"/>
          </a:xfrm>
          <a:prstGeom prst="ellipse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 txBox="1"/>
          <p:nvPr/>
        </p:nvSpPr>
        <p:spPr>
          <a:xfrm>
            <a:off x="7356348" y="17647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848856" y="23774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 12-13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894576" y="2651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48856" y="327355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7A4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Completado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865108" y="1764792"/>
            <a:ext cx="493776" cy="493776"/>
          </a:xfrm>
          <a:prstGeom prst="ellipse">
            <a:avLst/>
          </a:prstGeom>
          <a:solidFill>
            <a:srgbClr val="C2500F"/>
          </a:solidFill>
          <a:ln w="12700">
            <a:solidFill>
              <a:srgbClr val="C2500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 txBox="1"/>
          <p:nvPr/>
        </p:nvSpPr>
        <p:spPr>
          <a:xfrm>
            <a:off x="8865108" y="17647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8357616" y="23774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 14-16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403336" y="2651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Pruebas y ajustes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357616" y="327355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2500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curso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373868" y="1764792"/>
            <a:ext cx="493776" cy="493776"/>
          </a:xfrm>
          <a:prstGeom prst="ellipse">
            <a:avLst/>
          </a:prstGeom>
          <a:solidFill>
            <a:srgbClr val="6B7686"/>
          </a:solidFill>
          <a:ln w="12700">
            <a:solidFill>
              <a:srgbClr val="6B768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 txBox="1"/>
          <p:nvPr/>
        </p:nvSpPr>
        <p:spPr>
          <a:xfrm>
            <a:off x="10373868" y="17647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9866376" y="23774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 17-18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9912096" y="2651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Cierre y defensa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9866376" y="327355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68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Pendiente</a:t>
            </a:r>
            <a:endParaRPr lang="en-US" sz="1200" dirty="0"/>
          </a:p>
        </p:txBody>
      </p:sp>
      <p:sp>
        <p:nvSpPr>
          <p:cNvPr id="44" name="Tarjeta"/>
          <p:cNvSpPr/>
          <p:nvPr/>
        </p:nvSpPr>
        <p:spPr>
          <a:xfrm>
            <a:off x="813816" y="3931920"/>
            <a:ext cx="6126480" cy="2194560"/>
          </a:xfrm>
          <a:prstGeom prst="roundRect">
            <a:avLst>
              <a:gd name="adj" fmla="val 6250"/>
            </a:avLst>
          </a:prstGeom>
          <a:solidFill>
            <a:srgbClr val="EAF2F9"/>
          </a:solidFill>
          <a:ln w="12700">
            <a:solidFill>
              <a:srgbClr val="EAF2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arjeta"/>
          <p:cNvSpPr/>
          <p:nvPr/>
        </p:nvSpPr>
        <p:spPr>
          <a:xfrm>
            <a:off x="7168896" y="3931920"/>
            <a:ext cx="4206240" cy="2194560"/>
          </a:xfrm>
          <a:prstGeom prst="roundRect">
            <a:avLst>
              <a:gd name="adj" fmla="val 6250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 txBox="1"/>
          <p:nvPr/>
        </p:nvSpPr>
        <p:spPr>
          <a:xfrm>
            <a:off x="1088136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4A5F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PRESUPUESTO ESTIMADO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88136" y="4526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DESARROLLO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1088136" y="4846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≈ US$ 5.400</a:t>
            </a:r>
            <a:endParaRPr lang="en-US" sz="1800" dirty="0"/>
          </a:p>
        </p:txBody>
      </p:sp>
      <p:sp>
        <p:nvSpPr>
          <p:cNvPr id="49" name="Text 47"/>
          <p:cNvSpPr txBox="1"/>
          <p:nvPr/>
        </p:nvSpPr>
        <p:spPr>
          <a:xfrm>
            <a:off x="1088136" y="5349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540 h × US$ 10/h (2 integrantes)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3008376" y="4526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OPERACIÓN / MES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3008376" y="4846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≈ US$ 150</a:t>
            </a:r>
            <a:endParaRPr lang="en-US" sz="1800" dirty="0"/>
          </a:p>
        </p:txBody>
      </p:sp>
      <p:sp>
        <p:nvSpPr>
          <p:cNvPr id="52" name="Text 50"/>
          <p:cNvSpPr txBox="1"/>
          <p:nvPr/>
        </p:nvSpPr>
        <p:spPr>
          <a:xfrm>
            <a:off x="3008376" y="5349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Nube + IA + WhatsApp, a precio completo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4928616" y="4526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 REPORTE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4928616" y="4846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≈ US$ 0,15</a:t>
            </a:r>
            <a:endParaRPr lang="en-US" sz="1800" dirty="0"/>
          </a:p>
        </p:txBody>
      </p:sp>
      <p:sp>
        <p:nvSpPr>
          <p:cNvPr id="55" name="Text 53"/>
          <p:cNvSpPr txBox="1"/>
          <p:nvPr/>
        </p:nvSpPr>
        <p:spPr>
          <a:xfrm>
            <a:off x="4928616" y="5349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 1.000 reportes al mes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7488936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Riesgos que gestionamos</a:t>
            </a:r>
            <a:endParaRPr lang="en-US" sz="1800" dirty="0"/>
          </a:p>
        </p:txBody>
      </p:sp>
      <p:sp>
        <p:nvSpPr>
          <p:cNvPr id="57" name="Text 55"/>
          <p:cNvSpPr txBox="1"/>
          <p:nvPr/>
        </p:nvSpPr>
        <p:spPr>
          <a:xfrm>
            <a:off x="7488936" y="45720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FE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Dependencia de servicios externos (Meta, Gemini)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FE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Plazo acotado con un equipo de dos personas</a:t>
            </a:r>
            <a:endParaRPr lang="en-US" sz="1400" dirty="0"/>
          </a:p>
        </p:txBody>
      </p:sp>
      <p:pic>
        <p:nvPicPr>
          <p:cNvPr id="59" name="Imagen 58" descr="Archivo:Logo DuocUC.svg - Wikipedia, la enciclopedia libre">
            <a:extLst>
              <a:ext uri="{FF2B5EF4-FFF2-40B4-BE49-F238E27FC236}">
                <a16:creationId xmlns:a16="http://schemas.microsoft.com/office/drawing/2014/main" id="{3452E820-4D61-DFA7-10DC-238297DA2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1971" y="73152"/>
            <a:ext cx="2435897" cy="5994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DARK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2A5B"/>
              </a:gs>
              <a:gs pos="100000">
                <a:srgbClr val="081C40"/>
              </a:gs>
            </a:gsLst>
            <a:lin ang="2700000" scaled="0"/>
          </a:gradFill>
          <a:ln w="12700">
            <a:solidFill>
              <a:srgbClr val="A6DC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9052560" y="640080"/>
            <a:ext cx="2651760" cy="265176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9784080" y="1371600"/>
            <a:ext cx="1737360" cy="1737360"/>
          </a:xfrm>
          <a:prstGeom prst="ellipse">
            <a:avLst/>
          </a:prstGeom>
          <a:solidFill>
            <a:srgbClr val="3E93D6">
              <a:alpha val="45000"/>
            </a:srgbClr>
          </a:solidFill>
          <a:ln w="12700">
            <a:solidFill>
              <a:srgbClr val="3E93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Kicker"/>
          <p:cNvSpPr txBox="1"/>
          <p:nvPr/>
        </p:nvSpPr>
        <p:spPr>
          <a:xfrm>
            <a:off x="813816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A6DC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 EN VIVO</a:t>
            </a:r>
            <a:endParaRPr lang="en-US" sz="1300" dirty="0"/>
          </a:p>
        </p:txBody>
      </p:sp>
      <p:sp>
        <p:nvSpPr>
          <p:cNvPr id="6" name="Titulo"/>
          <p:cNvSpPr txBox="1"/>
          <p:nvPr/>
        </p:nvSpPr>
        <p:spPr>
          <a:xfrm>
            <a:off x="813816" y="132588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Demostración práctica del sistema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3794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6DC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CASOS DE USO QUE VAMOS A MOSTRAR</a:t>
            </a:r>
            <a:endParaRPr lang="en-US" sz="1200" dirty="0"/>
          </a:p>
        </p:txBody>
      </p:sp>
      <p:sp>
        <p:nvSpPr>
          <p:cNvPr id="8" name="Caso de uso"/>
          <p:cNvSpPr/>
          <p:nvPr/>
        </p:nvSpPr>
        <p:spPr>
          <a:xfrm>
            <a:off x="813816" y="4206240"/>
            <a:ext cx="3337560" cy="1737360"/>
          </a:xfrm>
          <a:prstGeom prst="roundRect">
            <a:avLst>
              <a:gd name="adj" fmla="val 789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88136" y="4434840"/>
            <a:ext cx="402336" cy="402336"/>
          </a:xfrm>
          <a:prstGeom prst="ellipse">
            <a:avLst/>
          </a:prstGeom>
          <a:solidFill>
            <a:srgbClr val="3E93D6"/>
          </a:solidFill>
          <a:ln w="12700">
            <a:solidFill>
              <a:srgbClr val="3E93D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1088136" y="4434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636776" y="443484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Reporte por WhatsApp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088136" y="50292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FE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Foto y ubicación: la IA clasifica y crea el ticket.</a:t>
            </a:r>
            <a:endParaRPr lang="en-US" sz="1400" dirty="0"/>
          </a:p>
        </p:txBody>
      </p:sp>
      <p:sp>
        <p:nvSpPr>
          <p:cNvPr id="13" name="Caso de uso"/>
          <p:cNvSpPr/>
          <p:nvPr/>
        </p:nvSpPr>
        <p:spPr>
          <a:xfrm>
            <a:off x="4425696" y="4206240"/>
            <a:ext cx="3337560" cy="1737360"/>
          </a:xfrm>
          <a:prstGeom prst="roundRect">
            <a:avLst>
              <a:gd name="adj" fmla="val 789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4700016" y="4434840"/>
            <a:ext cx="402336" cy="402336"/>
          </a:xfrm>
          <a:prstGeom prst="ellipse">
            <a:avLst/>
          </a:prstGeom>
          <a:solidFill>
            <a:srgbClr val="3E93D6"/>
          </a:solidFill>
          <a:ln w="12700">
            <a:solidFill>
              <a:srgbClr val="3E93D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 txBox="1"/>
          <p:nvPr/>
        </p:nvSpPr>
        <p:spPr>
          <a:xfrm>
            <a:off x="4700016" y="4434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248656" y="443484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Gestión en el C4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700016" y="50292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FE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Mapa en vivo y asignación al funcionario.</a:t>
            </a:r>
            <a:endParaRPr lang="en-US" sz="1400" dirty="0"/>
          </a:p>
        </p:txBody>
      </p:sp>
      <p:sp>
        <p:nvSpPr>
          <p:cNvPr id="18" name="Caso de uso"/>
          <p:cNvSpPr/>
          <p:nvPr/>
        </p:nvSpPr>
        <p:spPr>
          <a:xfrm>
            <a:off x="8037576" y="4206240"/>
            <a:ext cx="3337560" cy="1737360"/>
          </a:xfrm>
          <a:prstGeom prst="roundRect">
            <a:avLst>
              <a:gd name="adj" fmla="val 789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8311896" y="4434840"/>
            <a:ext cx="402336" cy="402336"/>
          </a:xfrm>
          <a:prstGeom prst="ellipse">
            <a:avLst/>
          </a:prstGeom>
          <a:solidFill>
            <a:srgbClr val="3E93D6"/>
          </a:solidFill>
          <a:ln w="12700">
            <a:solidFill>
              <a:srgbClr val="3E93D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 txBox="1"/>
          <p:nvPr/>
        </p:nvSpPr>
        <p:spPr>
          <a:xfrm>
            <a:off x="8311896" y="4434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860536" y="443484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Cierre en terreno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311896" y="50292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FE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Acepta, navega y resuelve; el ciudadano recibe el aviso.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E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MuniVox · Defensa de título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460736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FE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en-US" sz="1100" dirty="0"/>
          </a:p>
        </p:txBody>
      </p:sp>
      <p:pic>
        <p:nvPicPr>
          <p:cNvPr id="26" name="Imagen 25" descr="Archivo:Logo DuocUC.svg - Wikipedia, la enciclopedia libre">
            <a:extLst>
              <a:ext uri="{FF2B5EF4-FFF2-40B4-BE49-F238E27FC236}">
                <a16:creationId xmlns:a16="http://schemas.microsoft.com/office/drawing/2014/main" id="{AEFAB9AF-A10D-2A04-F36A-6A74A9797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1971" y="73152"/>
            <a:ext cx="2435897" cy="5994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L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A6DCF8"/>
              </a:gs>
              <a:gs pos="100000">
                <a:srgbClr val="0B2A5B"/>
              </a:gs>
            </a:gsLst>
            <a:lin ang="0" scaled="0"/>
          </a:gradFill>
          <a:ln w="12700">
            <a:solidFill>
              <a:srgbClr val="A6DC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Kicker"/>
          <p:cNvSpPr txBox="1"/>
          <p:nvPr/>
        </p:nvSpPr>
        <p:spPr>
          <a:xfrm>
            <a:off x="813816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6F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CIERRE</a:t>
            </a:r>
            <a:endParaRPr lang="en-US" sz="1200" dirty="0"/>
          </a:p>
        </p:txBody>
      </p:sp>
      <p:sp>
        <p:nvSpPr>
          <p:cNvPr id="4" name="Titulo"/>
          <p:cNvSpPr txBox="1"/>
          <p:nvPr/>
        </p:nvSpPr>
        <p:spPr>
          <a:xfrm>
            <a:off x="813816" y="8046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Conclusiones y futuro</a:t>
            </a:r>
            <a:endParaRPr lang="en-US" sz="3400" dirty="0"/>
          </a:p>
        </p:txBody>
      </p:sp>
      <p:sp>
        <p:nvSpPr>
          <p:cNvPr id="5" name="Pie"/>
          <p:cNvSpPr txBox="1"/>
          <p:nvPr/>
        </p:nvSpPr>
        <p:spPr>
          <a:xfrm>
            <a:off x="813816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MuniVox · Defensa de título</a:t>
            </a:r>
            <a:endParaRPr lang="en-US" sz="1100" dirty="0"/>
          </a:p>
        </p:txBody>
      </p:sp>
      <p:sp>
        <p:nvSpPr>
          <p:cNvPr id="6" name="Numero"/>
          <p:cNvSpPr txBox="1"/>
          <p:nvPr/>
        </p:nvSpPr>
        <p:spPr>
          <a:xfrm>
            <a:off x="10460736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FE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Tarjeta"/>
          <p:cNvSpPr/>
          <p:nvPr/>
        </p:nvSpPr>
        <p:spPr>
          <a:xfrm>
            <a:off x="813816" y="1600200"/>
            <a:ext cx="6126480" cy="393192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BFE0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arjeta"/>
          <p:cNvSpPr/>
          <p:nvPr/>
        </p:nvSpPr>
        <p:spPr>
          <a:xfrm>
            <a:off x="7168896" y="1600200"/>
            <a:ext cx="4206240" cy="3931920"/>
          </a:xfrm>
          <a:prstGeom prst="roundRect">
            <a:avLst>
              <a:gd name="adj" fmla="val 3488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1088136" y="1810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6F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443216" y="1810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6DC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TRABAJO FUTURO</a:t>
            </a:r>
            <a:endParaRPr lang="en-US" sz="1200" dirty="0"/>
          </a:p>
        </p:txBody>
      </p:sp>
      <p:sp>
        <p:nvSpPr>
          <p:cNvPr id="11" name="ICON_GRAD"/>
          <p:cNvSpPr/>
          <p:nvPr/>
        </p:nvSpPr>
        <p:spPr>
          <a:xfrm>
            <a:off x="1088136" y="2286000"/>
            <a:ext cx="502920" cy="502920"/>
          </a:xfrm>
          <a:prstGeom prst="ellipse">
            <a:avLst/>
          </a:prstGeom>
          <a:gradFill rotWithShape="1">
            <a:gsLst>
              <a:gs pos="0">
                <a:srgbClr val="3E93D6"/>
              </a:gs>
              <a:gs pos="100000">
                <a:srgbClr val="0B2A5B"/>
              </a:gs>
            </a:gsLst>
            <a:lin ang="2700000" scaled="0"/>
          </a:gradFill>
          <a:ln w="12700">
            <a:solidFill>
              <a:srgbClr val="1F6F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0" descr="icon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866" y="2411730"/>
            <a:ext cx="251460" cy="2514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773936" y="22585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Flujo completo de WhatsApp a ticket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1773936" y="259689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Triaje automático con IA y ubicación obligatoria.</a:t>
            </a:r>
            <a:endParaRPr lang="en-US" sz="1400" dirty="0"/>
          </a:p>
        </p:txBody>
      </p:sp>
      <p:sp>
        <p:nvSpPr>
          <p:cNvPr id="15" name="ICON_GRAD"/>
          <p:cNvSpPr/>
          <p:nvPr/>
        </p:nvSpPr>
        <p:spPr>
          <a:xfrm>
            <a:off x="1088136" y="3337560"/>
            <a:ext cx="502920" cy="502920"/>
          </a:xfrm>
          <a:prstGeom prst="ellipse">
            <a:avLst/>
          </a:prstGeom>
          <a:gradFill rotWithShape="1">
            <a:gsLst>
              <a:gs pos="0">
                <a:srgbClr val="3E93D6"/>
              </a:gs>
              <a:gs pos="100000">
                <a:srgbClr val="0B2A5B"/>
              </a:gs>
            </a:gsLst>
            <a:lin ang="2700000" scaled="0"/>
          </a:gradFill>
          <a:ln w="12700">
            <a:solidFill>
              <a:srgbClr val="1F6F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6" name="Image 1" descr="icon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866" y="3463290"/>
            <a:ext cx="251460" cy="25146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773936" y="33101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Plataforma C4 con monitoreo en vivo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1773936" y="364845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Mapa, vistas por rol y app para el funcionario en terreno.</a:t>
            </a:r>
            <a:endParaRPr lang="en-US" sz="1400" dirty="0"/>
          </a:p>
        </p:txBody>
      </p:sp>
      <p:sp>
        <p:nvSpPr>
          <p:cNvPr id="19" name="ICON_GRAD"/>
          <p:cNvSpPr/>
          <p:nvPr/>
        </p:nvSpPr>
        <p:spPr>
          <a:xfrm>
            <a:off x="1088136" y="4389120"/>
            <a:ext cx="502920" cy="502920"/>
          </a:xfrm>
          <a:prstGeom prst="ellipse">
            <a:avLst/>
          </a:prstGeom>
          <a:gradFill rotWithShape="1">
            <a:gsLst>
              <a:gs pos="0">
                <a:srgbClr val="3E93D6"/>
              </a:gs>
              <a:gs pos="100000">
                <a:srgbClr val="0B2A5B"/>
              </a:gs>
            </a:gsLst>
            <a:lin ang="2700000" scaled="0"/>
          </a:gradFill>
          <a:ln w="12700">
            <a:solidFill>
              <a:srgbClr val="1F6F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0" name="Image 2" descr="icon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866" y="4514850"/>
            <a:ext cx="251460" cy="2514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773936" y="436168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A5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cloud orientada a eventos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1773936" y="470001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7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 avisos automáticos al ciudadano en cada estado.</a:t>
            </a:r>
            <a:endParaRPr lang="en-US" sz="1400" dirty="0"/>
          </a:p>
        </p:txBody>
      </p:sp>
      <p:sp>
        <p:nvSpPr>
          <p:cNvPr id="23" name="ICON_GRAD"/>
          <p:cNvSpPr/>
          <p:nvPr/>
        </p:nvSpPr>
        <p:spPr>
          <a:xfrm>
            <a:off x="7443216" y="2286000"/>
            <a:ext cx="502920" cy="502920"/>
          </a:xfrm>
          <a:prstGeom prst="ellipse">
            <a:avLst/>
          </a:prstGeom>
          <a:gradFill rotWithShape="1">
            <a:gsLst>
              <a:gs pos="0">
                <a:srgbClr val="3E93D6"/>
              </a:gs>
              <a:gs pos="100000">
                <a:srgbClr val="0B2A5B"/>
              </a:gs>
            </a:gsLst>
            <a:lin ang="2700000" scaled="0"/>
          </a:gradFill>
          <a:ln w="12700">
            <a:solidFill>
              <a:srgbClr val="1F6F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4" name="Image 3" descr="icon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8946" y="2411730"/>
            <a:ext cx="251460" cy="2514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129016" y="22585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Más municipios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8129016" y="259689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FE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Escalar a otras comunas y a más categorías de incidencias.</a:t>
            </a:r>
            <a:endParaRPr lang="en-US" sz="1400" dirty="0"/>
          </a:p>
        </p:txBody>
      </p:sp>
      <p:sp>
        <p:nvSpPr>
          <p:cNvPr id="27" name="ICON_GRAD"/>
          <p:cNvSpPr/>
          <p:nvPr/>
        </p:nvSpPr>
        <p:spPr>
          <a:xfrm>
            <a:off x="7443216" y="3840480"/>
            <a:ext cx="502920" cy="502920"/>
          </a:xfrm>
          <a:prstGeom prst="ellipse">
            <a:avLst/>
          </a:prstGeom>
          <a:gradFill rotWithShape="1">
            <a:gsLst>
              <a:gs pos="0">
                <a:srgbClr val="3E93D6"/>
              </a:gs>
              <a:gs pos="100000">
                <a:srgbClr val="0B2A5B"/>
              </a:gs>
            </a:gsLst>
            <a:lin ang="2700000" scaled="0"/>
          </a:gradFill>
          <a:ln w="12700">
            <a:solidFill>
              <a:srgbClr val="1F6F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8" name="Image 4" descr="icon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8946" y="3966210"/>
            <a:ext cx="251460" cy="25146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129016" y="38130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Analítica de datos</a:t>
            </a:r>
            <a:endParaRPr 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8129016" y="415137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FE0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Mapas de calor y reportes para priorizar la inversión.</a:t>
            </a:r>
            <a:endParaRPr lang="en-US" sz="1400" dirty="0"/>
          </a:p>
        </p:txBody>
      </p:sp>
      <p:sp>
        <p:nvSpPr>
          <p:cNvPr id="31" name="Cierre"/>
          <p:cNvSpPr/>
          <p:nvPr/>
        </p:nvSpPr>
        <p:spPr>
          <a:xfrm>
            <a:off x="813816" y="5669280"/>
            <a:ext cx="10561320" cy="548640"/>
          </a:xfrm>
          <a:prstGeom prst="roundRect">
            <a:avLst>
              <a:gd name="adj" fmla="val 25000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25"/>
          <p:cNvSpPr txBox="1"/>
          <p:nvPr/>
        </p:nvSpPr>
        <p:spPr>
          <a:xfrm>
            <a:off x="1088136" y="5669280"/>
            <a:ext cx="1001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Gracias · Quedamos a disposición del jurado para sus preguntas</a:t>
            </a:r>
            <a:endParaRPr lang="en-US" sz="1600" dirty="0"/>
          </a:p>
        </p:txBody>
      </p:sp>
      <p:pic>
        <p:nvPicPr>
          <p:cNvPr id="34" name="Imagen 33" descr="Archivo:Logo DuocUC.svg - Wikipedia, la enciclopedia libre">
            <a:extLst>
              <a:ext uri="{FF2B5EF4-FFF2-40B4-BE49-F238E27FC236}">
                <a16:creationId xmlns:a16="http://schemas.microsoft.com/office/drawing/2014/main" id="{7D8DA71D-364C-6903-890B-4751E1F141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1971" y="73152"/>
            <a:ext cx="2435897" cy="5994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1700</Words>
  <Application>Microsoft Office PowerPoint</Application>
  <PresentationFormat>Panorámica</PresentationFormat>
  <Paragraphs>207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DM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MuniVox · Defensa de título</dc:title>
  <dc:subject>PptxGenJS Presentation</dc:subject>
  <dc:creator>PptxGenJS</dc:creator>
  <cp:lastModifiedBy>PABLO DAVID VARGAS SOTO</cp:lastModifiedBy>
  <cp:revision>2</cp:revision>
  <dcterms:created xsi:type="dcterms:W3CDTF">2026-10-27T01:41:46Z</dcterms:created>
  <dcterms:modified xsi:type="dcterms:W3CDTF">2026-10-27T02:05:16Z</dcterms:modified>
</cp:coreProperties>
</file>